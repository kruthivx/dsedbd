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693908" cy="15137892"/>
  <p:notesSz cx="15137892" cy="1069390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93908" cy="192024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365760" y="320040"/>
            <a:ext cx="12801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65760" y="2103120"/>
            <a:ext cx="4844034" cy="1645920"/>
          </a:xfrm>
          <a:prstGeom prst="roundRect">
            <a:avLst>
              <a:gd name="adj" fmla="val 4167"/>
            </a:avLst>
          </a:prstGeom>
          <a:solidFill>
            <a:srgbClr val="FEF3C7"/>
          </a:solidFill>
          <a:ln w="9525">
            <a:solidFill>
              <a:srgbClr val="B45309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502920" y="219456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sz="1800" b="1">
                <a:solidFill>
                  <a:srgbClr val="B45309"/>
                </a:solidFill>
                <a:latin typeface="Calibri"/>
              </a:rPr>
              <a:t>Abstract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560320"/>
            <a:ext cx="456971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sz="1320" b="0">
                <a:solidFill>
                  <a:srgbClr val="1E293B"/>
                </a:solidFill>
                <a:latin typeface="Calibri"/>
              </a:rPr>
              <a:t>• A centralized campus platform for students and staff to report, search and recover lost or found belongings.</a:t>
            </a:r>
            <a:endParaRPr lang="en-US" sz="1550" dirty="0"/>
          </a:p>
          <a:p>
            <a:pPr>
              <a:spcAft>
                <a:spcPts val="200"/>
              </a:spcAft>
            </a:pPr>
            <a:r>
              <a:rPr sz="1320" b="0">
                <a:solidFill>
                  <a:srgbClr val="1E293B"/>
                </a:solidFill>
                <a:latin typeface="Calibri"/>
              </a:rPr>
              <a:t>• Captures item name, category, description, location, date and images, with search/filtering and possible-match notifications.</a:t>
            </a:r>
          </a:p>
          <a:p>
            <a:pPr>
              <a:spcAft>
                <a:spcPts val="200"/>
              </a:spcAft>
            </a:pPr>
            <a:r>
              <a:rPr sz="1320" b="0">
                <a:solidFill>
                  <a:srgbClr val="1E293B"/>
                </a:solidFill>
                <a:latin typeface="Calibri"/>
              </a:rPr>
              <a:t>• Relational database stores users, items, claims, locations and status for organized tracking.</a:t>
            </a:r>
          </a:p>
        </p:txBody>
      </p:sp>
      <p:sp>
        <p:nvSpPr>
          <p:cNvPr id="9" name="Shape 7"/>
          <p:cNvSpPr/>
          <p:nvPr/>
        </p:nvSpPr>
        <p:spPr>
          <a:xfrm>
            <a:off x="365760" y="3886200"/>
            <a:ext cx="4844034" cy="2286000"/>
          </a:xfrm>
          <a:prstGeom prst="roundRect">
            <a:avLst>
              <a:gd name="adj" fmla="val 3000"/>
            </a:avLst>
          </a:prstGeom>
          <a:solidFill>
            <a:srgbClr val="FCE7F3"/>
          </a:solidFill>
          <a:ln w="9525">
            <a:solidFill>
              <a:srgbClr val="BE185D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502920" y="397764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sz="1800" b="1">
                <a:solidFill>
                  <a:srgbClr val="BE185D"/>
                </a:solidFill>
                <a:latin typeface="Calibri"/>
              </a:rPr>
              <a:t>Problem Statement &amp; Objectives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4343400"/>
            <a:ext cx="456971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sz="1280" b="0">
                <a:solidFill>
                  <a:srgbClr val="1E293B"/>
                </a:solidFill>
                <a:latin typeface="Calibri"/>
              </a:rPr>
              <a:t>Problem: Lost-and-found information is scattered across classmates, groups and security offices, making reporting, searching, matching and recovery time-consuming.</a:t>
            </a:r>
            <a:endParaRPr lang="en-US" sz="1550" dirty="0"/>
          </a:p>
          <a:p>
            <a:pPr>
              <a:spcAft>
                <a:spcPts val="200"/>
              </a:spcAft>
            </a:pPr>
            <a:r>
              <a:rPr sz="1280" b="0">
                <a:solidFill>
                  <a:srgbClr val="1E293B"/>
                </a:solidFill>
                <a:latin typeface="Calibri"/>
              </a:rPr>
              <a:t>Objective 1: Centralize lost and found item reporting.</a:t>
            </a:r>
          </a:p>
          <a:p>
            <a:pPr>
              <a:spcAft>
                <a:spcPts val="200"/>
              </a:spcAft>
            </a:pPr>
            <a:r>
              <a:rPr sz="1280" b="0">
                <a:solidFill>
                  <a:srgbClr val="1E293B"/>
                </a:solidFill>
                <a:latin typeface="Calibri"/>
              </a:rPr>
              <a:t>Objective 2: Enable search, filtering and lost–found matching.</a:t>
            </a:r>
          </a:p>
          <a:p>
            <a:pPr>
              <a:spcAft>
                <a:spcPts val="200"/>
              </a:spcAft>
            </a:pPr>
            <a:r>
              <a:rPr sz="1280" b="0">
                <a:solidFill>
                  <a:srgbClr val="1E293B"/>
                </a:solidFill>
                <a:latin typeface="Calibri"/>
              </a:rPr>
              <a:t>Objective 3: Support structured claims, verification and notifications.</a:t>
            </a:r>
          </a:p>
          <a:p>
            <a:pPr>
              <a:spcAft>
                <a:spcPts val="200"/>
              </a:spcAft>
            </a:pPr>
            <a:r>
              <a:rPr sz="1280" b="0">
                <a:solidFill>
                  <a:srgbClr val="1E293B"/>
                </a:solidFill>
                <a:latin typeface="Calibri"/>
              </a:rPr>
              <a:t>Scope: Students, faculty/staff and admin/security; reporting, search, claims, locations, notifications and item-status management.</a:t>
            </a:r>
          </a:p>
        </p:txBody>
      </p:sp>
      <p:sp>
        <p:nvSpPr>
          <p:cNvPr id="12" name="Shape 10"/>
          <p:cNvSpPr/>
          <p:nvPr/>
        </p:nvSpPr>
        <p:spPr>
          <a:xfrm>
            <a:off x="365760" y="6309360"/>
            <a:ext cx="4844034" cy="3017520"/>
          </a:xfrm>
          <a:prstGeom prst="roundRect">
            <a:avLst>
              <a:gd name="adj" fmla="val 2273"/>
            </a:avLst>
          </a:prstGeom>
          <a:solidFill>
            <a:srgbClr val="DBEAFE"/>
          </a:solidFill>
          <a:ln w="9525">
            <a:solidFill>
              <a:srgbClr val="1D4ED8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502920" y="640080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sz="1800" b="1">
                <a:solidFill>
                  <a:srgbClr val="1D4ED8"/>
                </a:solidFill>
                <a:latin typeface="Calibri"/>
              </a:rPr>
              <a:t>Existing vs Proposed System</a:t>
            </a:r>
            <a:endParaRPr lang="en-US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6766560"/>
          <a:ext cx="4569714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760220"/>
                <a:gridCol w="1760220"/>
              </a:tblGrid>
              <a:tr h="38862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Existing System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Proposed System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20" b="0">
                          <a:solidFill>
                            <a:srgbClr val="1E293B"/>
                          </a:solidFill>
                          <a:latin typeface="Calibri"/>
                        </a:rPr>
                        <a:t>Search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20" b="0">
                          <a:solidFill>
                            <a:srgbClr val="1E293B"/>
                          </a:solidFill>
                          <a:latin typeface="Calibri"/>
                        </a:rPr>
                        <a:t>Difficult to locate matching posts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20" b="0">
                          <a:solidFill>
                            <a:srgbClr val="1E293B"/>
                          </a:solidFill>
                          <a:latin typeface="Calibri"/>
                        </a:rPr>
                        <a:t>Search + filters by item details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20" b="0">
                          <a:solidFill>
                            <a:srgbClr val="1E293B"/>
                          </a:solidFill>
                          <a:latin typeface="Calibri"/>
                        </a:rPr>
                        <a:t>Matching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20" b="0">
                          <a:solidFill>
                            <a:srgbClr val="1E293B"/>
                          </a:solidFill>
                          <a:latin typeface="Calibri"/>
                        </a:rPr>
                        <a:t>No systematic matching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20" b="0">
                          <a:solidFill>
                            <a:srgbClr val="1E293B"/>
                          </a:solidFill>
                          <a:latin typeface="Calibri"/>
                        </a:rPr>
                        <a:t>Lost–found item matching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20" b="0">
                          <a:solidFill>
                            <a:srgbClr val="1E293B"/>
                          </a:solidFill>
                          <a:latin typeface="Calibri"/>
                        </a:rPr>
                        <a:t>Claims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20" b="0">
                          <a:solidFill>
                            <a:srgbClr val="1E293B"/>
                          </a:solidFill>
                          <a:latin typeface="Calibri"/>
                        </a:rPr>
                        <a:t>Mostly manual verification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20" b="0">
                          <a:solidFill>
                            <a:srgbClr val="1E293B"/>
                          </a:solidFill>
                          <a:latin typeface="Calibri"/>
                        </a:rPr>
                        <a:t>Structured claim &amp; verification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20" b="0">
                          <a:solidFill>
                            <a:srgbClr val="1E293B"/>
                          </a:solidFill>
                          <a:latin typeface="Calibri"/>
                        </a:rPr>
                        <a:t>Records &amp; alerts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20" b="0">
                          <a:solidFill>
                            <a:srgbClr val="1E293B"/>
                          </a:solidFill>
                          <a:latin typeface="Calibri"/>
                        </a:rPr>
                        <a:t>Scattered / incomplete records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20" b="0">
                          <a:solidFill>
                            <a:srgbClr val="1E293B"/>
                          </a:solidFill>
                          <a:latin typeface="Calibri"/>
                        </a:rPr>
                        <a:t>Central database + notifications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[Limitation / Gap]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]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[How we solve it]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365760" y="9464040"/>
            <a:ext cx="4844034" cy="2971800"/>
          </a:xfrm>
          <a:prstGeom prst="roundRect">
            <a:avLst>
              <a:gd name="adj" fmla="val 2308"/>
            </a:avLst>
          </a:prstGeom>
          <a:solidFill>
            <a:srgbClr val="DCFCE7"/>
          </a:solidFill>
          <a:ln w="9525">
            <a:solidFill>
              <a:srgbClr val="15803D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502920" y="955548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sz="1800" b="1">
                <a:solidFill>
                  <a:srgbClr val="15803D"/>
                </a:solidFill>
                <a:latin typeface="Calibri"/>
              </a:rPr>
              <a:t>Feasibility Study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502920" y="9921240"/>
            <a:ext cx="4569714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sz="1250" b="0">
                <a:solidFill>
                  <a:srgbClr val="1E293B"/>
                </a:solidFill>
                <a:latin typeface="Calibri"/>
              </a:rPr>
              <a:t>Technical: React Native/JavaScript frontend, Node.js + Express.js backend, MySQL database, and location/map services are supported by the proposed architecture.</a:t>
            </a:r>
            <a:endParaRPr lang="en-US" sz="1550" dirty="0"/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1E293B"/>
                </a:solidFill>
                <a:latin typeface="Calibri"/>
              </a:rPr>
              <a:t>Economic: Uses a practical software stack and standard development tools; no specialized hardware is required.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1E293B"/>
                </a:solidFill>
                <a:latin typeface="Calibri"/>
              </a:rPr>
              <a:t>Operational: Simple reporting, search and claim workflows support students, staff and administrators.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1E293B"/>
                </a:solidFill>
                <a:latin typeface="Calibri"/>
              </a:rPr>
              <a:t>Schedule: Modular design allows database, backend, frontend and notification components to be developed and tested within the semester.</a:t>
            </a:r>
          </a:p>
        </p:txBody>
      </p:sp>
      <p:sp>
        <p:nvSpPr>
          <p:cNvPr id="18" name="Shape 15"/>
          <p:cNvSpPr/>
          <p:nvPr/>
        </p:nvSpPr>
        <p:spPr>
          <a:xfrm>
            <a:off x="5484114" y="2103120"/>
            <a:ext cx="4844034" cy="2286000"/>
          </a:xfrm>
          <a:prstGeom prst="roundRect">
            <a:avLst>
              <a:gd name="adj" fmla="val 3000"/>
            </a:avLst>
          </a:prstGeom>
          <a:solidFill>
            <a:srgbClr val="E0F2FE"/>
          </a:solidFill>
          <a:ln w="9525">
            <a:solidFill>
              <a:srgbClr val="0369A1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 txBox="1"/>
          <p:nvPr/>
        </p:nvSpPr>
        <p:spPr>
          <a:xfrm>
            <a:off x="5621274" y="219456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sz="1800" b="1">
                <a:solidFill>
                  <a:srgbClr val="0369A1"/>
                </a:solidFill>
                <a:latin typeface="Calibri"/>
              </a:rPr>
              <a:t>Tools &amp; Technologies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621274" y="2560320"/>
            <a:ext cx="456971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sz="1320" b="0">
                <a:solidFill>
                  <a:srgbClr val="1E293B"/>
                </a:solidFill>
                <a:latin typeface="Calibri"/>
              </a:rPr>
              <a:t>Front-End: React Native + JavaScript</a:t>
            </a:r>
            <a:endParaRPr lang="en-US" sz="1550" dirty="0"/>
          </a:p>
          <a:p>
            <a:pPr>
              <a:spcAft>
                <a:spcPts val="200"/>
              </a:spcAft>
            </a:pPr>
            <a:r>
              <a:rPr sz="1320" b="0">
                <a:solidFill>
                  <a:srgbClr val="1E293B"/>
                </a:solidFill>
                <a:latin typeface="Calibri"/>
              </a:rPr>
              <a:t>Back-End: Node.js + Express.js</a:t>
            </a:r>
          </a:p>
          <a:p>
            <a:pPr>
              <a:spcAft>
                <a:spcPts val="200"/>
              </a:spcAft>
            </a:pPr>
            <a:r>
              <a:rPr sz="1320" b="0">
                <a:solidFill>
                  <a:srgbClr val="1E293B"/>
                </a:solidFill>
                <a:latin typeface="Calibri"/>
              </a:rPr>
              <a:t>Database: MySQL (relational database)</a:t>
            </a:r>
          </a:p>
          <a:p>
            <a:pPr>
              <a:spcAft>
                <a:spcPts val="200"/>
              </a:spcAft>
            </a:pPr>
            <a:r>
              <a:rPr sz="1320" b="0">
                <a:solidFill>
                  <a:srgbClr val="1E293B"/>
                </a:solidFill>
                <a:latin typeface="Calibri"/>
              </a:rPr>
              <a:t>Location &amp; Maps: Expo Location + Google Maps</a:t>
            </a:r>
          </a:p>
          <a:p>
            <a:pPr>
              <a:spcAft>
                <a:spcPts val="200"/>
              </a:spcAft>
            </a:pPr>
            <a:r>
              <a:rPr sz="1320" b="0">
                <a:solidFill>
                  <a:srgbClr val="1E293B"/>
                </a:solidFill>
                <a:latin typeface="Calibri"/>
              </a:rPr>
              <a:t>Development: VS Code</a:t>
            </a:r>
          </a:p>
        </p:txBody>
      </p:sp>
      <p:sp>
        <p:nvSpPr>
          <p:cNvPr id="21" name="Shape 18"/>
          <p:cNvSpPr/>
          <p:nvPr/>
        </p:nvSpPr>
        <p:spPr>
          <a:xfrm>
            <a:off x="5484114" y="4526280"/>
            <a:ext cx="4844034" cy="2743200"/>
          </a:xfrm>
          <a:prstGeom prst="roundRect">
            <a:avLst>
              <a:gd name="adj" fmla="val 2500"/>
            </a:avLst>
          </a:prstGeom>
          <a:solidFill>
            <a:srgbClr val="EDE9FE"/>
          </a:solidFill>
          <a:ln w="9525">
            <a:solidFill>
              <a:srgbClr val="6D28D9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 txBox="1"/>
          <p:nvPr/>
        </p:nvSpPr>
        <p:spPr>
          <a:xfrm>
            <a:off x="5621274" y="461772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sz="1800" b="1">
                <a:solidFill>
                  <a:srgbClr val="6D28D9"/>
                </a:solidFill>
                <a:latin typeface="Calibri"/>
              </a:rPr>
              <a:t>System Architecture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5621274" y="4983480"/>
            <a:ext cx="4569714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6D28D9"/>
            </a:solidFill>
            <a:prstDash val="dash"/>
          </a:ln>
        </p:spPr>
        <p:txBody>
          <a:bodyPr/>
          <a:p/>
        </p:txBody>
      </p:sp>
      <p:sp>
        <p:nvSpPr>
          <p:cNvPr id="24" name="Text 21"/>
          <p:cNvSpPr txBox="1"/>
          <p:nvPr/>
        </p:nvSpPr>
        <p:spPr>
          <a:xfrm>
            <a:off x="5621274" y="4983480"/>
            <a:ext cx="4569714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/>
        </p:txBody>
      </p:sp>
      <p:sp>
        <p:nvSpPr>
          <p:cNvPr id="25" name="Shape 22"/>
          <p:cNvSpPr/>
          <p:nvPr/>
        </p:nvSpPr>
        <p:spPr>
          <a:xfrm>
            <a:off x="5484114" y="7406640"/>
            <a:ext cx="4844034" cy="2514600"/>
          </a:xfrm>
          <a:prstGeom prst="roundRect">
            <a:avLst>
              <a:gd name="adj" fmla="val 2727"/>
            </a:avLst>
          </a:prstGeom>
          <a:solidFill>
            <a:srgbClr val="FFEDD5"/>
          </a:solidFill>
          <a:ln w="9525">
            <a:solidFill>
              <a:srgbClr val="C2410C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 txBox="1"/>
          <p:nvPr/>
        </p:nvSpPr>
        <p:spPr>
          <a:xfrm>
            <a:off x="5621274" y="749808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sz="1800" b="1">
                <a:solidFill>
                  <a:srgbClr val="C2410C"/>
                </a:solidFill>
                <a:latin typeface="Calibri"/>
              </a:rPr>
              <a:t>ER Diagram &amp; Database Design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5621274" y="7863840"/>
            <a:ext cx="4569714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C2410C"/>
            </a:solidFill>
            <a:prstDash val="dash"/>
          </a:ln>
        </p:spPr>
        <p:txBody>
          <a:bodyPr/>
          <a:p/>
        </p:txBody>
      </p:sp>
      <p:sp>
        <p:nvSpPr>
          <p:cNvPr id="28" name="Text 25"/>
          <p:cNvSpPr txBox="1"/>
          <p:nvPr/>
        </p:nvSpPr>
        <p:spPr>
          <a:xfrm>
            <a:off x="5621274" y="7863840"/>
            <a:ext cx="4569714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/>
        </p:txBody>
      </p:sp>
      <p:sp>
        <p:nvSpPr>
          <p:cNvPr id="29" name="Shape 26"/>
          <p:cNvSpPr/>
          <p:nvPr/>
        </p:nvSpPr>
        <p:spPr>
          <a:xfrm>
            <a:off x="5484114" y="10058400"/>
            <a:ext cx="4844034" cy="2377440"/>
          </a:xfrm>
          <a:prstGeom prst="roundRect">
            <a:avLst>
              <a:gd name="adj" fmla="val 2885"/>
            </a:avLst>
          </a:prstGeom>
          <a:solidFill>
            <a:srgbClr val="CCFBF1"/>
          </a:solidFill>
          <a:ln w="9525">
            <a:solidFill>
              <a:srgbClr val="0F766E"/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 txBox="1"/>
          <p:nvPr/>
        </p:nvSpPr>
        <p:spPr>
          <a:xfrm>
            <a:off x="5621274" y="1014984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sz="1800" b="1">
                <a:solidFill>
                  <a:srgbClr val="0F766E"/>
                </a:solidFill>
                <a:latin typeface="Calibri"/>
              </a:rPr>
              <a:t>Key Module Views</a:t>
            </a:r>
            <a:endParaRPr lang="en-US" sz="1800" dirty="0"/>
          </a:p>
        </p:txBody>
      </p:sp>
      <p:sp>
        <p:nvSpPr>
          <p:cNvPr id="31" name="Shape 28"/>
          <p:cNvSpPr/>
          <p:nvPr/>
        </p:nvSpPr>
        <p:spPr>
          <a:xfrm>
            <a:off x="5621274" y="10515600"/>
            <a:ext cx="2216277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0F766E"/>
            </a:solidFill>
            <a:prstDash val="dash"/>
          </a:ln>
        </p:spPr>
        <p:txBody>
          <a:bodyPr/>
          <a:p/>
        </p:txBody>
      </p:sp>
      <p:sp>
        <p:nvSpPr>
          <p:cNvPr id="32" name="Text 29"/>
          <p:cNvSpPr txBox="1"/>
          <p:nvPr/>
        </p:nvSpPr>
        <p:spPr>
          <a:xfrm>
            <a:off x="5621274" y="10515600"/>
            <a:ext cx="2216277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/>
        </p:txBody>
      </p:sp>
      <p:sp>
        <p:nvSpPr>
          <p:cNvPr id="33" name="Shape 30"/>
          <p:cNvSpPr/>
          <p:nvPr/>
        </p:nvSpPr>
        <p:spPr>
          <a:xfrm>
            <a:off x="7974711" y="10515600"/>
            <a:ext cx="2216277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0F766E"/>
            </a:solidFill>
            <a:prstDash val="dash"/>
          </a:ln>
        </p:spPr>
        <p:txBody>
          <a:bodyPr/>
          <a:p/>
        </p:txBody>
      </p:sp>
      <p:sp>
        <p:nvSpPr>
          <p:cNvPr id="34" name="Text 31"/>
          <p:cNvSpPr txBox="1"/>
          <p:nvPr/>
        </p:nvSpPr>
        <p:spPr>
          <a:xfrm>
            <a:off x="7974711" y="10515600"/>
            <a:ext cx="2216277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/>
        </p:txBody>
      </p:sp>
      <p:sp>
        <p:nvSpPr>
          <p:cNvPr id="35" name="Shape 32"/>
          <p:cNvSpPr/>
          <p:nvPr/>
        </p:nvSpPr>
        <p:spPr>
          <a:xfrm>
            <a:off x="365760" y="12573000"/>
            <a:ext cx="3108960" cy="1645920"/>
          </a:xfrm>
          <a:prstGeom prst="roundRect">
            <a:avLst>
              <a:gd name="adj" fmla="val 4167"/>
            </a:avLst>
          </a:prstGeom>
          <a:solidFill>
            <a:srgbClr val="FEE2E2"/>
          </a:solidFill>
          <a:ln w="9525">
            <a:solidFill>
              <a:srgbClr val="B91C1C"/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 txBox="1"/>
          <p:nvPr/>
        </p:nvSpPr>
        <p:spPr>
          <a:xfrm>
            <a:off x="530352" y="126918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rtlCol="0" anchor="ctr" bIns="0"/>
          <a:lstStyle/>
          <a:p>
            <a:pPr indent="0" marL="0" algn="l">
              <a:spcAft>
                <a:spcPts val="200"/>
              </a:spcAft>
              <a:buNone/>
            </a:pPr>
            <a:r>
              <a:rPr sz="1500" b="1">
                <a:solidFill>
                  <a:srgbClr val="B91C1C"/>
                </a:solidFill>
                <a:latin typeface="Calibri"/>
              </a:rPr>
              <a:t>Results &amp; Testing</a:t>
            </a:r>
            <a:endParaRPr lang="en-US" sz="1800" dirty="0"/>
          </a:p>
        </p:txBody>
      </p:sp>
      <p:sp>
        <p:nvSpPr>
          <p:cNvPr id="37" name="Text 34"/>
          <p:cNvSpPr txBox="1"/>
          <p:nvPr/>
        </p:nvSpPr>
        <p:spPr>
          <a:xfrm>
            <a:off x="621792" y="13002768"/>
            <a:ext cx="25786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200"/>
              </a:spcAft>
              <a:buSzPct val="100000"/>
            </a:pPr>
            <a:r>
              <a:rPr sz="919" b="0">
                <a:latin typeface="Calibri"/>
              </a:rPr>
              <a:t>CRUD operations support users, items, claims and related records.</a:t>
            </a:r>
            <a:endParaRPr lang="en-US" sz="1550" dirty="0"/>
          </a:p>
          <a:p>
            <a:pPr algn="l">
              <a:spcAft>
                <a:spcPts val="200"/>
              </a:spcAft>
            </a:pPr>
            <a:r>
              <a:rPr sz="919" b="0">
                <a:latin typeface="Calibri"/>
              </a:rPr>
              <a:t>Validation and status tracking organize reports and claims.</a:t>
            </a:r>
          </a:p>
          <a:p>
            <a:pPr algn="l">
              <a:spcAft>
                <a:spcPts val="200"/>
              </a:spcAft>
            </a:pPr>
            <a:r>
              <a:rPr sz="919" b="0">
                <a:latin typeface="Calibri"/>
              </a:rPr>
              <a:t>Search, filtering and notifications support faster item discovery and recovery.</a:t>
            </a:r>
          </a:p>
        </p:txBody>
      </p:sp>
      <p:sp>
        <p:nvSpPr>
          <p:cNvPr id="38" name="Shape 35"/>
          <p:cNvSpPr/>
          <p:nvPr/>
        </p:nvSpPr>
        <p:spPr>
          <a:xfrm>
            <a:off x="3790187" y="12573000"/>
            <a:ext cx="3108960" cy="1645920"/>
          </a:xfrm>
          <a:prstGeom prst="roundRect">
            <a:avLst>
              <a:gd name="adj" fmla="val 4167"/>
            </a:avLst>
          </a:prstGeom>
          <a:solidFill>
            <a:srgbClr val="ECFCCB"/>
          </a:solidFill>
          <a:ln w="9525">
            <a:solidFill>
              <a:srgbClr val="4D7C0F"/>
            </a:solidFill>
            <a:prstDash val="solid"/>
          </a:ln>
        </p:spPr>
        <p:txBody>
          <a:bodyPr/>
          <a:p/>
        </p:txBody>
      </p:sp>
      <p:sp>
        <p:nvSpPr>
          <p:cNvPr id="39" name="Text 36"/>
          <p:cNvSpPr txBox="1"/>
          <p:nvPr/>
        </p:nvSpPr>
        <p:spPr>
          <a:xfrm>
            <a:off x="3822191" y="126918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rtlCol="0" anchor="ctr" bIns="0"/>
          <a:lstStyle/>
          <a:p>
            <a:pPr indent="0" marL="0" algn="l">
              <a:spcAft>
                <a:spcPts val="200"/>
              </a:spcAft>
              <a:buNone/>
            </a:pPr>
            <a:r>
              <a:rPr sz="1500" b="1">
                <a:solidFill>
                  <a:srgbClr val="4D7C0F"/>
                </a:solidFill>
                <a:latin typeface="Calibri"/>
              </a:rPr>
              <a:t>Conclusion</a:t>
            </a:r>
            <a:endParaRPr lang="en-US" sz="1800" dirty="0"/>
          </a:p>
        </p:txBody>
      </p:sp>
      <p:sp>
        <p:nvSpPr>
          <p:cNvPr id="40" name="Text 37"/>
          <p:cNvSpPr txBox="1"/>
          <p:nvPr/>
        </p:nvSpPr>
        <p:spPr>
          <a:xfrm>
            <a:off x="3913632" y="13002768"/>
            <a:ext cx="25786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200"/>
              </a:spcAft>
              <a:buSzPct val="100000"/>
            </a:pPr>
            <a:r>
              <a:rPr sz="919" b="0">
                <a:latin typeface="Calibri"/>
              </a:rPr>
              <a:t>Provides a centralized campus workflow for reporting, searching, matching and claiming lost/found items.</a:t>
            </a:r>
            <a:endParaRPr lang="en-US" sz="1550" dirty="0"/>
          </a:p>
          <a:p>
            <a:pPr algn="l">
              <a:spcAft>
                <a:spcPts val="200"/>
              </a:spcAft>
            </a:pPr>
            <a:r>
              <a:rPr sz="919" b="0">
                <a:latin typeface="Calibri"/>
              </a:rPr>
              <a:t>Connects application services with a structured relational database for consistent records.</a:t>
            </a:r>
          </a:p>
        </p:txBody>
      </p:sp>
      <p:sp>
        <p:nvSpPr>
          <p:cNvPr id="41" name="Shape 38"/>
          <p:cNvSpPr/>
          <p:nvPr/>
        </p:nvSpPr>
        <p:spPr>
          <a:xfrm>
            <a:off x="7205472" y="12573000"/>
            <a:ext cx="3108960" cy="1645920"/>
          </a:xfrm>
          <a:prstGeom prst="roundRect">
            <a:avLst>
              <a:gd name="adj" fmla="val 4167"/>
            </a:avLst>
          </a:prstGeom>
          <a:solidFill>
            <a:srgbClr val="FAE8FF"/>
          </a:solidFill>
          <a:ln w="9525">
            <a:solidFill>
              <a:srgbClr val="A21CAF"/>
            </a:solidFill>
            <a:prstDash val="solid"/>
          </a:ln>
        </p:spPr>
        <p:txBody>
          <a:bodyPr/>
          <a:p/>
        </p:txBody>
      </p:sp>
      <p:sp>
        <p:nvSpPr>
          <p:cNvPr id="42" name="Text 39"/>
          <p:cNvSpPr txBox="1"/>
          <p:nvPr/>
        </p:nvSpPr>
        <p:spPr>
          <a:xfrm>
            <a:off x="7370064" y="126918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rtlCol="0" anchor="ctr" bIns="0"/>
          <a:lstStyle/>
          <a:p>
            <a:pPr indent="0" marL="0" algn="l">
              <a:spcAft>
                <a:spcPts val="200"/>
              </a:spcAft>
              <a:buNone/>
            </a:pPr>
            <a:r>
              <a:rPr sz="1500" b="1">
                <a:solidFill>
                  <a:srgbClr val="A21CAF"/>
                </a:solidFill>
                <a:latin typeface="Calibri"/>
              </a:rPr>
              <a:t>Future Scope</a:t>
            </a:r>
            <a:endParaRPr lang="en-US" sz="1800" dirty="0"/>
          </a:p>
        </p:txBody>
      </p:sp>
      <p:sp>
        <p:nvSpPr>
          <p:cNvPr id="43" name="Text 40"/>
          <p:cNvSpPr txBox="1"/>
          <p:nvPr/>
        </p:nvSpPr>
        <p:spPr>
          <a:xfrm>
            <a:off x="7461504" y="13002768"/>
            <a:ext cx="25786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300"/>
              </a:spcAft>
              <a:buSzPct val="100000"/>
            </a:pPr>
            <a:r>
              <a:rPr sz="969" b="0">
                <a:latin typeface="Calibri"/>
              </a:rPr>
              <a:t>Improve automated matching using richer item attributes and images.</a:t>
            </a:r>
            <a:endParaRPr lang="en-US" sz="1550" dirty="0"/>
          </a:p>
          <a:p>
            <a:pPr algn="l">
              <a:spcAft>
                <a:spcPts val="300"/>
              </a:spcAft>
            </a:pPr>
            <a:r>
              <a:rPr sz="969" b="0">
                <a:latin typeface="Calibri"/>
              </a:rPr>
              <a:t>Add stronger identity/claim verification and broader notification channels.</a:t>
            </a:r>
          </a:p>
          <a:p>
            <a:pPr algn="l">
              <a:spcAft>
                <a:spcPts val="300"/>
              </a:spcAft>
            </a:pPr>
            <a:r>
              <a:rPr sz="969" b="0">
                <a:latin typeface="Calibri"/>
              </a:rPr>
              <a:t>Extend analytics for frequently lost locations and item categories.</a:t>
            </a:r>
          </a:p>
        </p:txBody>
      </p:sp>
      <p:sp>
        <p:nvSpPr>
          <p:cNvPr id="44" name="Text 41"/>
          <p:cNvSpPr txBox="1"/>
          <p:nvPr/>
        </p:nvSpPr>
        <p:spPr>
          <a:xfrm>
            <a:off x="457200" y="14328648"/>
            <a:ext cx="873252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 algn="l">
              <a:spcAft>
                <a:spcPts val="200"/>
              </a:spcAft>
              <a:buNone/>
            </a:pPr>
            <a:pPr indent="0" marL="0">
              <a:buNone/>
            </a:pPr>
            <a:r>
              <a:rPr sz="740" b="1">
                <a:solidFill>
                  <a:srgbClr val="1E293B"/>
                </a:solidFill>
                <a:latin typeface="Calibri"/>
              </a:rPr>
              <a:t>References: [1] MySQL Documentation  [2] Node.js / Express.js Documentation  [3] React Native Documentation  [4] Google Maps / Expo Location Documentation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9505188" y="14264640"/>
            <a:ext cx="8229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  <a:prstDash val="dash"/>
          </a:ln>
        </p:spPr>
        <p:txBody>
          <a:bodyPr/>
          <a:p/>
        </p:txBody>
      </p:sp>
      <p:sp>
        <p:nvSpPr>
          <p:cNvPr id="46" name="Text 43"/>
          <p:cNvSpPr txBox="1"/>
          <p:nvPr/>
        </p:nvSpPr>
        <p:spPr>
          <a:xfrm>
            <a:off x="9555480" y="14292072"/>
            <a:ext cx="822960" cy="594360"/>
          </a:xfrm>
          <a:prstGeom prst="rect">
            <a:avLst/>
          </a:prstGeom>
          <a:noFill/>
          <a:ln/>
        </p:spPr>
        <p:txBody>
          <a:bodyPr wrap="square" rtlCol="0" anchor="ctr" lIns="0" rIns="0" tIns="0" bIns="0"/>
          <a:lstStyle/>
          <a:p>
            <a:pPr algn="ctr" indent="0" marL="0">
              <a:spcAft>
                <a:spcPts val="200"/>
              </a:spcAft>
              <a:buNone/>
            </a:pPr>
            <a:r>
              <a:rPr sz="700" b="1">
                <a:solidFill>
                  <a:srgbClr val="64748B"/>
                </a:solidFill>
                <a:latin typeface="Calibri"/>
              </a:rPr>
              <a:t>GITHUB</a:t>
            </a:r>
            <a:endParaRPr lang="en-US" sz="900" dirty="0"/>
          </a:p>
          <a:p>
            <a:pPr algn="ctr">
              <a:spcAft>
                <a:spcPts val="200"/>
              </a:spcAft>
            </a:pPr>
            <a:r>
              <a:rPr sz="700" b="1">
                <a:solidFill>
                  <a:srgbClr val="64748B"/>
                </a:solidFill>
                <a:latin typeface="Calibri"/>
              </a:rPr>
              <a:t>QR</a:t>
            </a:r>
          </a:p>
        </p:txBody>
      </p:sp>
      <p:pic>
        <p:nvPicPr>
          <p:cNvPr id="47" name="Picture 46" descr="architecture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1274" y="5033480"/>
            <a:ext cx="4429714" cy="2048840"/>
          </a:xfrm>
          <a:prstGeom prst="rect">
            <a:avLst/>
          </a:prstGeom>
        </p:spPr>
      </p:pic>
      <p:pic>
        <p:nvPicPr>
          <p:cNvPr id="48" name="Picture 47" descr="er_diagram_lost_fou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1274" y="7898840"/>
            <a:ext cx="4429714" cy="1850240"/>
          </a:xfrm>
          <a:prstGeom prst="rect">
            <a:avLst/>
          </a:prstGeom>
        </p:spPr>
      </p:pic>
      <p:pic>
        <p:nvPicPr>
          <p:cNvPr id="49" name="Picture 48" descr="ui_module_view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6274" y="10540600"/>
            <a:ext cx="4519714" cy="173308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1874519" y="164592"/>
            <a:ext cx="84582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LOST &amp; FOUND ITEM TRACKER FOR CAMPUS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74519" y="566928"/>
            <a:ext cx="8458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TEAM ID: 16   |   SECTION: [S__]   |   GUIDE: DR. RAMYA KRISHNA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874519" y="832104"/>
            <a:ext cx="8458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MEMBERS: CH. HASIKA – 2520030372   |   V. SRIKRUTHI – 2520030340   |   P. BHAVANA MANASWINI – 2520030154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874519" y="1115568"/>
            <a:ext cx="84582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DATABASE SYSTEMS ENGINEERING AND DISTRIBUTED BACKEND DEVELOPMENT (25CS1302E)</a:t>
            </a:r>
            <a:br/>
            <a:r>
              <a:rPr sz="1100" b="1">
                <a:solidFill>
                  <a:srgbClr val="FFFFFF"/>
                </a:solidFill>
                <a:latin typeface="Calibri"/>
              </a:rPr>
              <a:t>KLH BACHUPALLY CAMPUS, CSE  |  PBL 2026–27</a:t>
            </a:r>
          </a:p>
        </p:txBody>
      </p:sp>
      <p:pic>
        <p:nvPicPr>
          <p:cNvPr id="54" name="Picture 53" descr="de2451f7-a06a-4858-98e4-8248b3599a8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36576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2026-09-28T08:11:17Z</dcterms:created>
  <dcterms:modified xsi:type="dcterms:W3CDTF">2026-09-28T08:11:17Z</dcterms:modified>
</cp:coreProperties>
</file>